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562BDF-D47C-4597-92AD-B03EE972C0DC}">
  <a:tblStyle styleId="{EA562BDF-D47C-4597-92AD-B03EE972C0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96b30ceb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696b30ceb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696b30ce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696b30ce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96b30ce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696b30ce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696b30ceb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696b30ceb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696b30ce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696b30ce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696b30ceb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696b30ce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696b30ce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696b30ce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696b30ceb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696b30ceb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a696b30ceb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a696b30ceb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380500" cy="1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fr" sz="2800"/>
              <a:t>Panorama des Frameworks Mobiles (Veille Technologique)</a:t>
            </a:r>
            <a:endParaRPr b="1" sz="69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b="1"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400"/>
              <a:t>                                                                                               </a:t>
            </a:r>
            <a:endParaRPr sz="6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2500"/>
              <a:t>Flutter, React Native, Kotlin Multiplatform –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Objectif : Cartographier les frameworks mobiles 2025, comprendre le positionnement de Flutter et identifier les critères de choix (performance, productivité, coût, talents).</a:t>
            </a:r>
            <a:br>
              <a:rPr lang="fr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Travail collaboratif : Vision synthétique et actionnable, avec exemples concrets.</a:t>
            </a:r>
            <a:br>
              <a:rPr lang="fr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Sources principales : Stack Overflow Developer Survey 2024/2025, SlashData, GitHub Octoverse.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Flutter (Google)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fr" sz="1900">
                <a:solidFill>
                  <a:schemeClr val="dk1"/>
                </a:solidFill>
              </a:rPr>
              <a:t>Définition &amp; évolution</a:t>
            </a:r>
            <a:r>
              <a:rPr lang="fr" sz="1900">
                <a:solidFill>
                  <a:schemeClr val="dk1"/>
                </a:solidFill>
              </a:rPr>
              <a:t> : Framework open-source lancé en 2017 par Google, permet de créer des apps cross-platform (mobile, web, desktop, embedded).</a:t>
            </a:r>
            <a:br>
              <a:rPr lang="fr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fr" sz="1900">
                <a:solidFill>
                  <a:schemeClr val="dk1"/>
                </a:solidFill>
              </a:rPr>
              <a:t>Nouveautés Flutter 3.x</a:t>
            </a:r>
            <a:r>
              <a:rPr lang="fr" sz="1900">
                <a:solidFill>
                  <a:schemeClr val="dk1"/>
                </a:solidFill>
              </a:rPr>
              <a:t> : Material 3, moteur Impeller pour rendu plus performant, support WebAssembly (WASM).</a:t>
            </a:r>
            <a:br>
              <a:rPr lang="fr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fr" sz="1900">
                <a:solidFill>
                  <a:schemeClr val="dk1"/>
                </a:solidFill>
              </a:rPr>
              <a:t>Adoption</a:t>
            </a:r>
            <a:r>
              <a:rPr lang="fr" sz="1900">
                <a:solidFill>
                  <a:schemeClr val="dk1"/>
                </a:solidFill>
              </a:rPr>
              <a:t> : Populaire dans fintech, retail, médias, gaming. Exemples : Google Ads, BMW, ByteDance.</a:t>
            </a:r>
            <a:br>
              <a:rPr lang="fr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fr" sz="1900">
                <a:solidFill>
                  <a:schemeClr val="dk1"/>
                </a:solidFill>
              </a:rPr>
              <a:t>Forces / limites</a:t>
            </a:r>
            <a:r>
              <a:rPr lang="fr" sz="1900">
                <a:solidFill>
                  <a:schemeClr val="dk1"/>
                </a:solidFill>
              </a:rPr>
              <a:t> : UI riche, hot reload, productivité élevée. Limites : taille des builds, intégrations natives spécifiques, expertise Dart requise.</a:t>
            </a:r>
            <a:br>
              <a:rPr lang="fr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fr" sz="1900">
                <a:solidFill>
                  <a:schemeClr val="dk1"/>
                </a:solidFill>
              </a:rPr>
              <a:t>Source</a:t>
            </a:r>
            <a:r>
              <a:rPr lang="fr" sz="1900">
                <a:solidFill>
                  <a:schemeClr val="dk1"/>
                </a:solidFill>
              </a:rPr>
              <a:t> : Flutter Dev Medium, Stack Overflow 2024.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React Native (Meta)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51575" y="11624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fr" sz="1700">
                <a:solidFill>
                  <a:schemeClr val="dk1"/>
                </a:solidFill>
              </a:rPr>
              <a:t>Positionnement</a:t>
            </a:r>
            <a:r>
              <a:rPr lang="fr" sz="1700">
                <a:solidFill>
                  <a:schemeClr val="dk1"/>
                </a:solidFill>
              </a:rPr>
              <a:t> : Basé sur JS/TS et React Web, utilise JSX et bridging pour le natif. New Architecture : Fabric &amp; TurboModules. Expo simplifie le développement cross-platform.</a:t>
            </a:r>
            <a:br>
              <a:rPr lang="f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fr" sz="1700">
                <a:solidFill>
                  <a:schemeClr val="dk1"/>
                </a:solidFill>
              </a:rPr>
              <a:t>Adoption</a:t>
            </a:r>
            <a:r>
              <a:rPr lang="fr" sz="1700">
                <a:solidFill>
                  <a:schemeClr val="dk1"/>
                </a:solidFill>
              </a:rPr>
              <a:t> : Instagram, Tesla, Shopify. Communauté massive sur npm et GitHub.</a:t>
            </a:r>
            <a:br>
              <a:rPr lang="f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b="1" lang="fr" sz="1700">
                <a:solidFill>
                  <a:schemeClr val="dk1"/>
                </a:solidFill>
              </a:rPr>
              <a:t>Forces / limites</a:t>
            </a:r>
            <a:r>
              <a:rPr lang="fr" sz="1700">
                <a:solidFill>
                  <a:schemeClr val="dk1"/>
                </a:solidFill>
              </a:rPr>
              <a:t> : Écosystème JS/TS, partage code web+mobile. Limites : performances bridgées, fragmentation des dépendances.</a:t>
            </a:r>
            <a:br>
              <a:rPr lang="fr" sz="1700">
                <a:solidFill>
                  <a:schemeClr val="dk1"/>
                </a:solidFill>
              </a:rPr>
            </a:br>
            <a:endParaRPr sz="17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fr" sz="1700">
                <a:solidFill>
                  <a:schemeClr val="dk1"/>
                </a:solidFill>
              </a:rPr>
              <a:t>Source</a:t>
            </a:r>
            <a:r>
              <a:rPr lang="fr" sz="1700">
                <a:solidFill>
                  <a:schemeClr val="dk1"/>
                </a:solidFill>
              </a:rPr>
              <a:t> : React Native Blog, GitHub Octoverse 2024.</a:t>
            </a:r>
            <a:br>
              <a:rPr lang="f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Kotlin Multiplatform (KMP)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1"/>
                </a:solidFill>
              </a:rPr>
              <a:t>Concept</a:t>
            </a:r>
            <a:r>
              <a:rPr lang="fr">
                <a:solidFill>
                  <a:schemeClr val="dk1"/>
                </a:solidFill>
              </a:rPr>
              <a:t> : Partage la logique métier entre Android et iOS tout en gardant UI native. Compose Multiplatform permet UI multiplateforme.</a:t>
            </a:r>
            <a:br>
              <a:rPr lang="f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1"/>
                </a:solidFill>
              </a:rPr>
              <a:t>Adoption</a:t>
            </a:r>
            <a:r>
              <a:rPr lang="fr">
                <a:solidFill>
                  <a:schemeClr val="dk1"/>
                </a:solidFill>
              </a:rPr>
              <a:t> : CashApp, McDonalds, Philips. Cas d’usage : mobile+backend, IoT.</a:t>
            </a:r>
            <a:br>
              <a:rPr lang="f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1"/>
                </a:solidFill>
              </a:rPr>
              <a:t>Contraintes</a:t>
            </a:r>
            <a:r>
              <a:rPr lang="fr">
                <a:solidFill>
                  <a:schemeClr val="dk1"/>
                </a:solidFill>
              </a:rPr>
              <a:t> : UI nécessite SwiftUI/Compose natif. Compétences Kotlin nécessaires.</a:t>
            </a:r>
            <a:br>
              <a:rPr lang="fr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fr">
                <a:solidFill>
                  <a:schemeClr val="dk1"/>
                </a:solidFill>
              </a:rPr>
              <a:t>Source</a:t>
            </a:r>
            <a:r>
              <a:rPr lang="fr">
                <a:solidFill>
                  <a:schemeClr val="dk1"/>
                </a:solidFill>
              </a:rPr>
              <a:t> : JetBrains Blog, KotlinConf 2023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SwiftUI / Jetpack Compose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fr" sz="1900">
                <a:solidFill>
                  <a:schemeClr val="dk1"/>
                </a:solidFill>
              </a:rPr>
              <a:t>Technos natives</a:t>
            </a:r>
            <a:r>
              <a:rPr lang="fr" sz="1900">
                <a:solidFill>
                  <a:schemeClr val="dk1"/>
                </a:solidFill>
              </a:rPr>
              <a:t> : SwiftUI et Jetpack Compose simplifient la création d’interfaces déclaratives vs UIKit/XML.</a:t>
            </a:r>
            <a:br>
              <a:rPr lang="fr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fr" sz="1900">
                <a:solidFill>
                  <a:schemeClr val="dk1"/>
                </a:solidFill>
              </a:rPr>
              <a:t>Gains</a:t>
            </a:r>
            <a:r>
              <a:rPr lang="fr" sz="1900">
                <a:solidFill>
                  <a:schemeClr val="dk1"/>
                </a:solidFill>
              </a:rPr>
              <a:t> : Productivité accrue, UI moderne, animations natives faciles.</a:t>
            </a:r>
            <a:br>
              <a:rPr lang="fr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fr" sz="1900">
                <a:solidFill>
                  <a:schemeClr val="dk1"/>
                </a:solidFill>
              </a:rPr>
              <a:t>Adoption</a:t>
            </a:r>
            <a:r>
              <a:rPr lang="fr" sz="1900">
                <a:solidFill>
                  <a:schemeClr val="dk1"/>
                </a:solidFill>
              </a:rPr>
              <a:t> : Majorité iOS/Android natif. Critères pour natif : performances, hardware avancé.</a:t>
            </a:r>
            <a:br>
              <a:rPr lang="fr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fr" sz="1900">
                <a:solidFill>
                  <a:schemeClr val="dk1"/>
                </a:solidFill>
              </a:rPr>
              <a:t>Limites cross-platform</a:t>
            </a:r>
            <a:r>
              <a:rPr lang="fr" sz="1900">
                <a:solidFill>
                  <a:schemeClr val="dk1"/>
                </a:solidFill>
              </a:rPr>
              <a:t> : Impossible de partager code UI entre OS, maintenance de deux bases de code.</a:t>
            </a:r>
            <a:br>
              <a:rPr lang="fr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fr" sz="1900">
                <a:solidFill>
                  <a:schemeClr val="dk1"/>
                </a:solidFill>
              </a:rPr>
              <a:t>Source</a:t>
            </a:r>
            <a:r>
              <a:rPr lang="fr" sz="1900">
                <a:solidFill>
                  <a:schemeClr val="dk1"/>
                </a:solidFill>
              </a:rPr>
              <a:t> : Apple WWDC, Android Developers Blog.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Autres solutions hybrides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fr" sz="1900">
                <a:solidFill>
                  <a:schemeClr val="dk1"/>
                </a:solidFill>
              </a:rPr>
              <a:t>.NET MAUI / Xamarin</a:t>
            </a:r>
            <a:r>
              <a:rPr lang="fr" sz="1900">
                <a:solidFill>
                  <a:schemeClr val="dk1"/>
                </a:solidFill>
              </a:rPr>
              <a:t> : Intégration .NET, C#, communauté limitée, évolution depuis Xamarin.Forms.</a:t>
            </a:r>
            <a:br>
              <a:rPr lang="fr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fr" sz="1900">
                <a:solidFill>
                  <a:schemeClr val="dk1"/>
                </a:solidFill>
              </a:rPr>
              <a:t>Ionic / Capacitor / Cordova</a:t>
            </a:r>
            <a:r>
              <a:rPr lang="fr" sz="1900">
                <a:solidFill>
                  <a:schemeClr val="dk1"/>
                </a:solidFill>
              </a:rPr>
              <a:t> : Apps simples, PWA, contraintes WebView, accès natif limité.</a:t>
            </a:r>
            <a:br>
              <a:rPr lang="fr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fr" sz="1900">
                <a:solidFill>
                  <a:schemeClr val="dk1"/>
                </a:solidFill>
              </a:rPr>
              <a:t>Uno Platform, Avalonia, NativeScript</a:t>
            </a:r>
            <a:r>
              <a:rPr lang="fr" sz="1900">
                <a:solidFill>
                  <a:schemeClr val="dk1"/>
                </a:solidFill>
              </a:rPr>
              <a:t> : Opportunités niche, support communautaire limité.</a:t>
            </a:r>
            <a:br>
              <a:rPr lang="fr" sz="1900">
                <a:solidFill>
                  <a:schemeClr val="dk1"/>
                </a:solidFill>
              </a:rPr>
            </a:b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r>
              <a:rPr b="1" lang="fr" sz="1900">
                <a:solidFill>
                  <a:schemeClr val="dk1"/>
                </a:solidFill>
              </a:rPr>
              <a:t>Source</a:t>
            </a:r>
            <a:r>
              <a:rPr lang="fr" sz="1900">
                <a:solidFill>
                  <a:schemeClr val="dk1"/>
                </a:solidFill>
              </a:rPr>
              <a:t> : Microsoft Docs, Ionic Blog.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2911"/>
              <a:t>Tableaux comparatif des </a:t>
            </a:r>
            <a:r>
              <a:rPr b="1" lang="fr" sz="2761">
                <a:solidFill>
                  <a:srgbClr val="000000"/>
                </a:solidFill>
              </a:rPr>
              <a:t>Framework</a:t>
            </a:r>
            <a:endParaRPr b="1" sz="2761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fr"/>
              <a:t>Comparatif global</a:t>
            </a:r>
            <a:endParaRPr/>
          </a:p>
        </p:txBody>
      </p:sp>
      <p:graphicFrame>
        <p:nvGraphicFramePr>
          <p:cNvPr id="98" name="Google Shape;98;p20"/>
          <p:cNvGraphicFramePr/>
          <p:nvPr/>
        </p:nvGraphicFramePr>
        <p:xfrm>
          <a:off x="474025" y="152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{EA562BDF-D47C-4597-92AD-B03EE972C0DC}</a:tableStyleId>
              </a:tblPr>
              <a:tblGrid>
                <a:gridCol w="1741225"/>
                <a:gridCol w="1417400"/>
                <a:gridCol w="1135425"/>
                <a:gridCol w="1260725"/>
                <a:gridCol w="1344275"/>
                <a:gridCol w="1459200"/>
              </a:tblGrid>
              <a:tr h="549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" sz="1100"/>
                        <a:t>Framework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Langage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Plateforme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Performance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Communauté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Productivité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750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Flutter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Dart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mbile, web, desktop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Excellente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Large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Haute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React Native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JS/TS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mobile,web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Bonne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très</a:t>
                      </a:r>
                      <a:r>
                        <a:rPr lang="fr"/>
                        <a:t> Large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Moyenne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5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KMP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Kotlin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mobile, backend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Bonne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Moyenne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Moyenne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61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SwiftUI/Compose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Swift/Kotlin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ios,android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Excellente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Moyenne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Haute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549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Ionic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JS/HTML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mble, PWA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Moyenne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Large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Facile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Sources / Bibliographie</a:t>
            </a:r>
            <a:endParaRPr/>
          </a:p>
        </p:txBody>
      </p:sp>
      <p:sp>
        <p:nvSpPr>
          <p:cNvPr id="104" name="Google Shape;104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Stack Overflow Developer Survey 2024/2025</a:t>
            </a:r>
            <a:br>
              <a:rPr lang="fr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SlashData – State of the Developer Nation</a:t>
            </a:r>
            <a:br>
              <a:rPr lang="fr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GitHub Octoverse 2024</a:t>
            </a:r>
            <a:br>
              <a:rPr lang="fr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Flutter Dev Medium, React Native Blog, JetBrains Blog</a:t>
            </a:r>
            <a:br>
              <a:rPr lang="fr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fr"/>
              <a:t>Apple WWDC, Android Developers Blog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 Conclusion</a:t>
            </a:r>
            <a:endParaRPr/>
          </a:p>
        </p:txBody>
      </p:sp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fr" sz="4800"/>
              <a:t>Flutter reste le choix cœur pour la licence Développement Mobile : cross-platform, productivité élevée, UI moderne, large adoption.</a:t>
            </a:r>
            <a:br>
              <a:rPr lang="fr" sz="4800"/>
            </a:b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fr" sz="4800"/>
              <a:t>React Native est pertinent pour les équipes web existantes souhaitant partager du code avec le web et bénéficier de la communauté JS massive.</a:t>
            </a:r>
            <a:br>
              <a:rPr lang="fr" sz="4800"/>
            </a:b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fr" sz="4800"/>
              <a:t>Kotlin Multiplatform est adapté aux projets nécessitant partage logique métier tout en gardant des UI natives, idéal pour apps complexes ou IoT.</a:t>
            </a:r>
            <a:br>
              <a:rPr lang="fr" sz="4800"/>
            </a:b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fr" sz="4800"/>
              <a:t>Les technos natives (SwiftUI / Jetpack Compose) restent incontournables pour performance maximale, hardware avancé et apps critiques.</a:t>
            </a:r>
            <a:br>
              <a:rPr lang="fr" sz="4800"/>
            </a:b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fr" sz="4800"/>
              <a:t>Choix du framework = compromis entre performance, productivité, coût et compétences disponibles.</a:t>
            </a:r>
            <a:br>
              <a:rPr lang="fr" sz="4800"/>
            </a:br>
            <a:endParaRPr sz="4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fr" sz="4800"/>
              <a:t>Veille continue recommandée : UI kits, DevTools, nouvelles fonctionnalités OS, IA générative appliquée au mobile</a:t>
            </a:r>
            <a:r>
              <a:rPr lang="fr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